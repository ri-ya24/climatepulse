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600" b="0" i="0">
                <a:solidFill>
                  <a:srgbClr val="EEF6FB"/>
                </a:solidFill>
                <a:latin typeface="Segoe UI"/>
              </a:rPr>
              <a:t>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AI-POWERED CLIMATE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 i="0">
                <a:solidFill>
                  <a:srgbClr val="EEF6FB"/>
                </a:solidFill>
                <a:latin typeface="Segoe UI"/>
              </a:rPr>
              <a:t>Climate</a:t>
            </a:r>
            <a:r>
              <a:rPr sz="6000" b="1" i="0">
                <a:solidFill>
                  <a:srgbClr val="38BDF8"/>
                </a:solidFill>
                <a:latin typeface="Segoe UI"/>
              </a:rP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86200"/>
            <a:ext cx="9418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A9C3D2"/>
                </a:solidFill>
                <a:latin typeface="Segoe UI"/>
              </a:rPr>
              <a:t>A live climate impact intelligence system that turns raw weather and air-quality data into clear, human-understandable insights — powered by Machine Learning and Generative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34D399"/>
                </a:solidFill>
                <a:latin typeface="Segoe UI"/>
              </a:rPr>
              <a:t>🔗 Live Demo:  climatepulse-in.streamlit.app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8BDF8"/>
                </a:solidFill>
                <a:latin typeface="Segoe UI"/>
              </a:rPr>
              <a:t>WHY CLIMATEPULSE?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960120"/>
            <a:ext cx="146304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EF6FB"/>
                </a:solidFill>
                <a:latin typeface="Segoe UI"/>
              </a:rPr>
              <a:t>Weather apps show numbers. But what do they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59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A9C3D2"/>
                </a:solidFill>
                <a:latin typeface="Segoe UI"/>
              </a:rPr>
              <a:t>A typical app tells you “41°C”. It doesn't tell you whether that's normal, dangerous, part of a long-term trend, or what you should do about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3456432" cy="2011680"/>
          </a:xfrm>
          <a:prstGeom prst="rect">
            <a:avLst/>
          </a:prstGeom>
          <a:solidFill>
            <a:srgbClr val="143248"/>
          </a:solidFill>
          <a:ln w="12700"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2400"/>
              <a:t>🌡️</a:t>
            </a:r>
          </a:p>
          <a:p>
            <a:r>
              <a:rPr sz="1400" b="1">
                <a:solidFill>
                  <a:srgbClr val="EEF6FB"/>
                </a:solidFill>
                <a:latin typeface="Segoe UI"/>
              </a:rPr>
              <a:t>No context</a:t>
            </a:r>
          </a:p>
          <a:p>
            <a:r>
              <a:rPr sz="1100">
                <a:solidFill>
                  <a:srgbClr val="A9C3D2"/>
                </a:solidFill>
                <a:latin typeface="Segoe UI"/>
              </a:rPr>
              <a:t>Is today's heat unusual compared to past years? Nobody tells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70832" y="3108960"/>
            <a:ext cx="3456432" cy="2011680"/>
          </a:xfrm>
          <a:prstGeom prst="rect">
            <a:avLst/>
          </a:prstGeom>
          <a:solidFill>
            <a:srgbClr val="143248"/>
          </a:solidFill>
          <a:ln w="12700"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2400"/>
              <a:t>📉</a:t>
            </a:r>
          </a:p>
          <a:p>
            <a:r>
              <a:rPr sz="1400" b="1">
                <a:solidFill>
                  <a:srgbClr val="EEF6FB"/>
                </a:solidFill>
                <a:latin typeface="Segoe UI"/>
              </a:rPr>
              <a:t>No trends</a:t>
            </a:r>
          </a:p>
          <a:p>
            <a:r>
              <a:rPr sz="1100">
                <a:solidFill>
                  <a:srgbClr val="A9C3D2"/>
                </a:solidFill>
                <a:latin typeface="Segoe UI"/>
              </a:rPr>
              <a:t>We can't see if our climate is slowly changing over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0144" y="3108960"/>
            <a:ext cx="3456432" cy="2011680"/>
          </a:xfrm>
          <a:prstGeom prst="rect">
            <a:avLst/>
          </a:prstGeom>
          <a:solidFill>
            <a:srgbClr val="143248"/>
          </a:solidFill>
          <a:ln w="12700"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2400"/>
              <a:t>🤖</a:t>
            </a:r>
          </a:p>
          <a:p>
            <a:r>
              <a:rPr sz="1400" b="1">
                <a:solidFill>
                  <a:srgbClr val="EEF6FB"/>
                </a:solidFill>
                <a:latin typeface="Segoe UI"/>
              </a:rPr>
              <a:t>No explanation</a:t>
            </a:r>
          </a:p>
          <a:p>
            <a:r>
              <a:rPr sz="1100">
                <a:solidFill>
                  <a:srgbClr val="A9C3D2"/>
                </a:solidFill>
                <a:latin typeface="Segoe UI"/>
              </a:rPr>
              <a:t>Data exists, but it's raw and hard for normal people to understand.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8BDF8"/>
                </a:solidFill>
                <a:latin typeface="Segoe UI"/>
              </a:rPr>
              <a:t>FEATURE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960120"/>
            <a:ext cx="146304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EF6FB"/>
                </a:solidFill>
                <a:latin typeface="Segoe UI"/>
              </a:rPr>
              <a:t>🛰️ Live Environmental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A9C3D2"/>
                </a:solidFill>
                <a:latin typeface="Segoe UI"/>
              </a:rPr>
              <a:t>Real-time weather and air quality for your city — updated live, and comparable across 10 major Indian cities.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72591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</a:rPr>
              <a:t>▸ </a:t>
            </a:r>
            <a:r>
              <a:rPr sz="1800" b="1">
                <a:solidFill>
                  <a:srgbClr val="EEF6FB"/>
                </a:solidFill>
                <a:latin typeface="Segoe UI"/>
              </a:rPr>
              <a:t>Temperature</a:t>
            </a:r>
            <a:r>
              <a:rPr sz="1600">
                <a:solidFill>
                  <a:srgbClr val="DCECF5"/>
                </a:solidFill>
                <a:latin typeface="Segoe UI"/>
              </a:rPr>
              <a:t> and feels-like temperature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</a:rPr>
              <a:t>▸ </a:t>
            </a:r>
            <a:r>
              <a:rPr sz="1800" b="1">
                <a:solidFill>
                  <a:srgbClr val="EEF6FB"/>
                </a:solidFill>
                <a:latin typeface="Segoe UI"/>
              </a:rPr>
              <a:t>Humidity, rainfall and wind</a:t>
            </a:r>
            <a:r>
              <a:rPr sz="1600">
                <a:solidFill>
                  <a:srgbClr val="DCECF5"/>
                </a:solidFill>
                <a:latin typeface="Segoe UI"/>
              </a:rPr>
              <a:t> — the full picture of current conditions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</a:rPr>
              <a:t>▸ </a:t>
            </a:r>
            <a:r>
              <a:rPr sz="1800" b="1">
                <a:solidFill>
                  <a:srgbClr val="EEF6FB"/>
                </a:solidFill>
                <a:latin typeface="Segoe UI"/>
              </a:rPr>
              <a:t>PM2.5 &amp; PM10</a:t>
            </a:r>
            <a:r>
              <a:rPr sz="1600">
                <a:solidFill>
                  <a:srgbClr val="DCECF5"/>
                </a:solidFill>
                <a:latin typeface="Segoe UI"/>
              </a:rPr>
              <a:t> — the tiny pollution particles that affect our lungs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</a:rPr>
              <a:t>▸ </a:t>
            </a:r>
            <a:r>
              <a:rPr sz="1800" b="1">
                <a:solidFill>
                  <a:srgbClr val="EEF6FB"/>
                </a:solidFill>
                <a:latin typeface="Segoe UI"/>
              </a:rPr>
              <a:t>Impact scores</a:t>
            </a:r>
            <a:r>
              <a:rPr sz="1600">
                <a:solidFill>
                  <a:srgbClr val="DCECF5"/>
                </a:solidFill>
                <a:latin typeface="Segoe UI"/>
              </a:rPr>
              <a:t> — temperature impact, air-quality impact &amp; overall climate impact at a glance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8BDF8"/>
                </a:solidFill>
                <a:latin typeface="Segoe UI"/>
              </a:rPr>
              <a:t>FEATURE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960120"/>
            <a:ext cx="146304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EF6FB"/>
                </a:solidFill>
                <a:latin typeface="Segoe UI"/>
              </a:rPr>
              <a:t>📜 Historical Climate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A9C3D2"/>
                </a:solidFill>
                <a:latin typeface="Segoe UI"/>
              </a:rPr>
              <a:t>Using decades of historical weather data (ERA5), ClimatePulse builds a climate “baseline” so we can judge today's weather fairly.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72591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</a:rPr>
              <a:t>▸ </a:t>
            </a:r>
            <a:r>
              <a:rPr sz="1800" b="1">
                <a:solidFill>
                  <a:srgbClr val="EEF6FB"/>
                </a:solidFill>
                <a:latin typeface="Segoe UI"/>
              </a:rPr>
              <a:t>Historical averages</a:t>
            </a:r>
            <a:r>
              <a:rPr sz="1600">
                <a:solidFill>
                  <a:srgbClr val="DCECF5"/>
                </a:solidFill>
                <a:latin typeface="Segoe UI"/>
              </a:rPr>
              <a:t> and monthly climate patterns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</a:rPr>
              <a:t>▸ </a:t>
            </a:r>
            <a:r>
              <a:rPr sz="1800" b="1">
                <a:solidFill>
                  <a:srgbClr val="EEF6FB"/>
                </a:solidFill>
                <a:latin typeface="Segoe UI"/>
              </a:rPr>
              <a:t>Temperature anomalies</a:t>
            </a:r>
            <a:r>
              <a:rPr sz="1600">
                <a:solidFill>
                  <a:srgbClr val="DCECF5"/>
                </a:solidFill>
                <a:latin typeface="Segoe UI"/>
              </a:rPr>
              <a:t> — how different today is from the historical norm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</a:rPr>
              <a:t>▸ </a:t>
            </a:r>
            <a:r>
              <a:rPr sz="1800" b="1">
                <a:solidFill>
                  <a:srgbClr val="EEF6FB"/>
                </a:solidFill>
                <a:latin typeface="Segoe UI"/>
              </a:rPr>
              <a:t>Long-term trends</a:t>
            </a:r>
            <a:r>
              <a:rPr sz="1600">
                <a:solidFill>
                  <a:srgbClr val="DCECF5"/>
                </a:solidFill>
                <a:latin typeface="Segoe UI"/>
              </a:rPr>
              <a:t> — is it warming year after year?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</a:rPr>
              <a:t>▸ </a:t>
            </a:r>
            <a:r>
              <a:rPr sz="1800" b="1">
                <a:solidFill>
                  <a:srgbClr val="EEF6FB"/>
                </a:solidFill>
                <a:latin typeface="Segoe UI"/>
              </a:rPr>
              <a:t>Rainfall trends &amp; deviations,</a:t>
            </a:r>
            <a:r>
              <a:rPr sz="1600">
                <a:solidFill>
                  <a:srgbClr val="DCECF5"/>
                </a:solidFill>
                <a:latin typeface="Segoe UI"/>
              </a:rPr>
              <a:t> plus consecutive dry periods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8BDF8"/>
                </a:solidFill>
                <a:latin typeface="Segoe UI"/>
              </a:rPr>
              <a:t>FEATURE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960120"/>
            <a:ext cx="146304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EF6FB"/>
                </a:solidFill>
                <a:latin typeface="Segoe UI"/>
              </a:rPr>
              <a:t>🔥 Extreme Event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A9C3D2"/>
                </a:solidFill>
                <a:latin typeface="Segoe UI"/>
              </a:rPr>
              <a:t>ClimatePulse automatically flags extreme conditions using statistical thresholds from historical data — not guesswork.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71800"/>
            <a:ext cx="2587752" cy="2377440"/>
          </a:xfrm>
          <a:prstGeom prst="rect">
            <a:avLst/>
          </a:prstGeom>
          <a:solidFill>
            <a:srgbClr val="143248"/>
          </a:solidFill>
          <a:ln w="12700"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2400"/>
              <a:t>🌡️</a:t>
            </a:r>
          </a:p>
          <a:p>
            <a:r>
              <a:rPr sz="1400" b="1">
                <a:solidFill>
                  <a:srgbClr val="EEF6FB"/>
                </a:solidFill>
                <a:latin typeface="Segoe UI"/>
              </a:rPr>
              <a:t>Extreme heat days</a:t>
            </a:r>
          </a:p>
          <a:p>
            <a:r>
              <a:rPr sz="1100">
                <a:solidFill>
                  <a:srgbClr val="A9C3D2"/>
                </a:solidFill>
                <a:latin typeface="Segoe UI"/>
              </a:rPr>
              <a:t>Days hotter than historical percentile thresholds.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47288" y="2971800"/>
            <a:ext cx="2587752" cy="2377440"/>
          </a:xfrm>
          <a:prstGeom prst="rect">
            <a:avLst/>
          </a:prstGeom>
          <a:solidFill>
            <a:srgbClr val="143248"/>
          </a:solidFill>
          <a:ln w="12700"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2400"/>
              <a:t>📆</a:t>
            </a:r>
          </a:p>
          <a:p>
            <a:r>
              <a:rPr sz="1400" b="1">
                <a:solidFill>
                  <a:srgbClr val="EEF6FB"/>
                </a:solidFill>
                <a:latin typeface="Segoe UI"/>
              </a:rPr>
              <a:t>Multi-day heat events</a:t>
            </a:r>
          </a:p>
          <a:p>
            <a:r>
              <a:rPr sz="1100">
                <a:solidFill>
                  <a:srgbClr val="A9C3D2"/>
                </a:solidFill>
                <a:latin typeface="Segoe UI"/>
              </a:rPr>
              <a:t>Stretches of consecutive hot days — real heatwaves, detected automatically.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63056" y="2971800"/>
            <a:ext cx="2587752" cy="2377440"/>
          </a:xfrm>
          <a:prstGeom prst="rect">
            <a:avLst/>
          </a:prstGeom>
          <a:solidFill>
            <a:srgbClr val="143248"/>
          </a:solidFill>
          <a:ln w="12700"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2400"/>
              <a:t>🏜️</a:t>
            </a:r>
          </a:p>
          <a:p>
            <a:r>
              <a:rPr sz="1400" b="1">
                <a:solidFill>
                  <a:srgbClr val="EEF6FB"/>
                </a:solidFill>
                <a:latin typeface="Segoe UI"/>
              </a:rPr>
              <a:t>Long dry spells</a:t>
            </a:r>
          </a:p>
          <a:p>
            <a:r>
              <a:rPr sz="1100">
                <a:solidFill>
                  <a:srgbClr val="A9C3D2"/>
                </a:solidFill>
                <a:latin typeface="Segoe UI"/>
              </a:rPr>
              <a:t>Extended periods with no rainfall, tracked over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878824" y="2971800"/>
            <a:ext cx="2587752" cy="2377440"/>
          </a:xfrm>
          <a:prstGeom prst="rect">
            <a:avLst/>
          </a:prstGeom>
          <a:solidFill>
            <a:srgbClr val="143248"/>
          </a:solidFill>
          <a:ln w="12700"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2400"/>
              <a:t>🌧️</a:t>
            </a:r>
          </a:p>
          <a:p>
            <a:r>
              <a:rPr sz="1400" b="1">
                <a:solidFill>
                  <a:srgbClr val="EEF6FB"/>
                </a:solidFill>
                <a:latin typeface="Segoe UI"/>
              </a:rPr>
              <a:t>Unusual rainfall</a:t>
            </a:r>
          </a:p>
          <a:p>
            <a:r>
              <a:rPr sz="1100">
                <a:solidFill>
                  <a:srgbClr val="A9C3D2"/>
                </a:solidFill>
                <a:latin typeface="Segoe UI"/>
              </a:rPr>
              <a:t>Rainfall far above or below what's expected for the season.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8BDF8"/>
                </a:solidFill>
                <a:latin typeface="Segoe UI"/>
              </a:rPr>
              <a:t>FEATURE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960120"/>
            <a:ext cx="146304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EF6FB"/>
                </a:solidFill>
                <a:latin typeface="Segoe UI"/>
              </a:rPr>
              <a:t>🤖 Machine Learning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7259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A9C3D2"/>
                </a:solidFill>
                <a:latin typeface="Segoe UI"/>
              </a:rPr>
              <a:t>Two ML models work behind the scenes to forecast and detect the unusual.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88920"/>
            <a:ext cx="5276088" cy="2103120"/>
          </a:xfrm>
          <a:prstGeom prst="rect">
            <a:avLst/>
          </a:prstGeom>
          <a:solidFill>
            <a:srgbClr val="143248"/>
          </a:solidFill>
          <a:ln w="12700"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2400"/>
              <a:t>📈</a:t>
            </a:r>
          </a:p>
          <a:p>
            <a:r>
              <a:rPr sz="1400" b="1">
                <a:solidFill>
                  <a:srgbClr val="EEF6FB"/>
                </a:solidFill>
                <a:latin typeface="Segoe UI"/>
              </a:rPr>
              <a:t>XGBoost Forecasting</a:t>
            </a:r>
          </a:p>
          <a:p>
            <a:r>
              <a:rPr sz="1100">
                <a:solidFill>
                  <a:srgbClr val="A9C3D2"/>
                </a:solidFill>
                <a:latin typeface="Segoe UI"/>
              </a:rPr>
              <a:t>Predicts short-term temperature using past patterns, lag features and rolling statistics. Evaluated with MAE, RMSE and R² against a naïve baseline.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0488" y="2788920"/>
            <a:ext cx="5276088" cy="2103120"/>
          </a:xfrm>
          <a:prstGeom prst="rect">
            <a:avLst/>
          </a:prstGeom>
          <a:solidFill>
            <a:srgbClr val="143248"/>
          </a:solidFill>
          <a:ln w="12700"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2400"/>
              <a:t>🔍</a:t>
            </a:r>
          </a:p>
          <a:p>
            <a:r>
              <a:rPr sz="1400" b="1">
                <a:solidFill>
                  <a:srgbClr val="EEF6FB"/>
                </a:solidFill>
                <a:latin typeface="Segoe UI"/>
              </a:rPr>
              <a:t>Isolation Forest</a:t>
            </a:r>
          </a:p>
          <a:p>
            <a:r>
              <a:rPr sz="1100">
                <a:solidFill>
                  <a:srgbClr val="A9C3D2"/>
                </a:solidFill>
                <a:latin typeface="Segoe UI"/>
              </a:rPr>
              <a:t>An anomaly-detection model that spots weird, one-off climate observations hiding inside historical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7259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9C3D2"/>
                </a:solidFill>
                <a:latin typeface="Segoe UI"/>
              </a:rPr>
              <a:t>In plain words: </a:t>
            </a:r>
            <a:r>
              <a:rPr sz="1600" b="1" i="0">
                <a:solidFill>
                  <a:srgbClr val="EEF6FB"/>
                </a:solidFill>
                <a:latin typeface="Segoe UI"/>
              </a:rPr>
              <a:t>one model predicts tomorrow's temperature, the other flags “this data point looks strange”.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8BDF8"/>
                </a:solidFill>
                <a:latin typeface="Segoe UI"/>
              </a:rPr>
              <a:t>FEATURE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960120"/>
            <a:ext cx="146304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EF6FB"/>
                </a:solidFill>
                <a:latin typeface="Segoe UI"/>
              </a:rPr>
              <a:t>🔮 Future Projections &amp; Climate Impact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59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A9C3D2"/>
                </a:solidFill>
                <a:latin typeface="Segoe UI"/>
              </a:rPr>
              <a:t>ClimatePulse looks ahead using </a:t>
            </a:r>
            <a:r>
              <a:rPr sz="1700" b="1" i="0">
                <a:solidFill>
                  <a:srgbClr val="EEF6FB"/>
                </a:solidFill>
                <a:latin typeface="Segoe UI"/>
              </a:rPr>
              <a:t>CMIP6 climate model data (EC-Earth3P-HR)</a:t>
            </a:r>
            <a:r>
              <a:rPr sz="1700" b="0" i="0">
                <a:solidFill>
                  <a:srgbClr val="A9C3D2"/>
                </a:solidFill>
                <a:latin typeface="Segoe UI"/>
              </a:rPr>
              <a:t> — the same kind of models scientists use to explore future warming and rainfall scenarios.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7259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</a:rPr>
              <a:t>▸ </a:t>
            </a:r>
            <a:r>
              <a:rPr sz="1800" b="1">
                <a:solidFill>
                  <a:srgbClr val="EEF6FB"/>
                </a:solidFill>
                <a:latin typeface="Segoe UI"/>
              </a:rPr>
              <a:t>Possible futures</a:t>
            </a:r>
            <a:r>
              <a:rPr sz="1600">
                <a:solidFill>
                  <a:srgbClr val="DCECF5"/>
                </a:solidFill>
                <a:latin typeface="Segoe UI"/>
              </a:rPr>
              <a:t> — projected temperature &amp; precipitation changes (scenarios, not exact predictions)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</a:rPr>
              <a:t>▸ </a:t>
            </a:r>
            <a:r>
              <a:rPr sz="1800" b="1">
                <a:solidFill>
                  <a:srgbClr val="EEF6FB"/>
                </a:solidFill>
                <a:latin typeface="Segoe UI"/>
              </a:rPr>
              <a:t>Climate Impact Index</a:t>
            </a:r>
            <a:r>
              <a:rPr sz="1600">
                <a:solidFill>
                  <a:srgbClr val="DCECF5"/>
                </a:solidFill>
                <a:latin typeface="Segoe UI"/>
              </a:rPr>
              <a:t> — one simple score combining heat impact + rainfall deviation + air quality + dryness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4D399"/>
                </a:solidFill>
              </a:rPr>
              <a:t>▸ </a:t>
            </a:r>
            <a:r>
              <a:rPr sz="1800" b="1">
                <a:solidFill>
                  <a:srgbClr val="EEF6FB"/>
                </a:solidFill>
                <a:latin typeface="Segoe UI"/>
              </a:rPr>
              <a:t>Compare cities and time periods</a:t>
            </a:r>
            <a:r>
              <a:rPr sz="1600">
                <a:solidFill>
                  <a:srgbClr val="DCECF5"/>
                </a:solidFill>
                <a:latin typeface="Segoe UI"/>
              </a:rPr>
              <a:t> with a single, easy-to-read indicator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8BDF8"/>
                </a:solidFill>
                <a:latin typeface="Segoe UI"/>
              </a:rPr>
              <a:t>FEATURE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960120"/>
            <a:ext cx="146304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EF6FB"/>
                </a:solidFill>
                <a:latin typeface="Segoe UI"/>
              </a:rPr>
              <a:t>✨ Generative AI — Data in Plain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7259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A9C3D2"/>
                </a:solidFill>
                <a:latin typeface="Segoe UI"/>
              </a:rPr>
              <a:t>Google Gemini turns all the analytics into natural-language insights anyone can read — the AI </a:t>
            </a:r>
            <a:r>
              <a:rPr sz="1700" b="1" i="0">
                <a:solidFill>
                  <a:srgbClr val="EEF6FB"/>
                </a:solidFill>
                <a:latin typeface="Segoe UI"/>
              </a:rPr>
              <a:t>explains</a:t>
            </a:r>
            <a:r>
              <a:rPr sz="1700" b="0" i="0">
                <a:solidFill>
                  <a:srgbClr val="A9C3D2"/>
                </a:solidFill>
                <a:latin typeface="Segoe UI"/>
              </a:rPr>
              <a:t> the analysis, it never replaces the calculations.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63240"/>
            <a:ext cx="2587752" cy="2651760"/>
          </a:xfrm>
          <a:prstGeom prst="rect">
            <a:avLst/>
          </a:prstGeom>
          <a:solidFill>
            <a:srgbClr val="143248"/>
          </a:solidFill>
          <a:ln w="12700"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2400"/>
              <a:t>💬</a:t>
            </a:r>
          </a:p>
          <a:p>
            <a:r>
              <a:rPr sz="1400" b="1">
                <a:solidFill>
                  <a:srgbClr val="EEF6FB"/>
                </a:solidFill>
                <a:latin typeface="Segoe UI"/>
              </a:rPr>
              <a:t>Ask anything</a:t>
            </a:r>
          </a:p>
          <a:p>
            <a:r>
              <a:rPr sz="1100">
                <a:solidFill>
                  <a:srgbClr val="A9C3D2"/>
                </a:solidFill>
                <a:latin typeface="Segoe UI"/>
              </a:rPr>
              <a:t>Natural-language climate queries — just ask a question in plain words.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47288" y="3063240"/>
            <a:ext cx="2587752" cy="2651760"/>
          </a:xfrm>
          <a:prstGeom prst="rect">
            <a:avLst/>
          </a:prstGeom>
          <a:solidFill>
            <a:srgbClr val="143248"/>
          </a:solidFill>
          <a:ln w="12700"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2400"/>
              <a:t>📰</a:t>
            </a:r>
          </a:p>
          <a:p>
            <a:r>
              <a:rPr sz="1400" b="1">
                <a:solidFill>
                  <a:srgbClr val="EEF6FB"/>
                </a:solidFill>
                <a:latin typeface="Segoe UI"/>
              </a:rPr>
              <a:t>Daily climate reports</a:t>
            </a:r>
          </a:p>
          <a:p>
            <a:r>
              <a:rPr sz="1100">
                <a:solidFill>
                  <a:srgbClr val="A9C3D2"/>
                </a:solidFill>
                <a:latin typeface="Segoe UI"/>
              </a:rPr>
              <a:t>Auto-generated summaries of the day's conditions, anomalies and trends.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63056" y="3063240"/>
            <a:ext cx="2587752" cy="2651760"/>
          </a:xfrm>
          <a:prstGeom prst="rect">
            <a:avLst/>
          </a:prstGeom>
          <a:solidFill>
            <a:srgbClr val="143248"/>
          </a:solidFill>
          <a:ln w="12700"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2400"/>
              <a:t>🏙️</a:t>
            </a:r>
          </a:p>
          <a:p>
            <a:r>
              <a:rPr sz="1400" b="1">
                <a:solidFill>
                  <a:srgbClr val="EEF6FB"/>
                </a:solidFill>
                <a:latin typeface="Segoe UI"/>
              </a:rPr>
              <a:t>City comparisons</a:t>
            </a:r>
          </a:p>
          <a:p>
            <a:r>
              <a:rPr sz="1100">
                <a:solidFill>
                  <a:srgbClr val="A9C3D2"/>
                </a:solidFill>
                <a:latin typeface="Segoe UI"/>
              </a:rPr>
              <a:t>Narratives that compare climate impact across cities in human language.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878824" y="3063240"/>
            <a:ext cx="2587752" cy="2651760"/>
          </a:xfrm>
          <a:prstGeom prst="rect">
            <a:avLst/>
          </a:prstGeom>
          <a:solidFill>
            <a:srgbClr val="143248"/>
          </a:solidFill>
          <a:ln w="12700"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2400"/>
              <a:t>🧪</a:t>
            </a:r>
          </a:p>
          <a:p>
            <a:r>
              <a:rPr sz="1400" b="1">
                <a:solidFill>
                  <a:srgbClr val="EEF6FB"/>
                </a:solidFill>
                <a:latin typeface="Segoe UI"/>
              </a:rPr>
              <a:t>What-if scenarios</a:t>
            </a:r>
          </a:p>
          <a:p>
            <a:r>
              <a:rPr sz="1100">
                <a:solidFill>
                  <a:srgbClr val="A9C3D2"/>
                </a:solidFill>
                <a:latin typeface="Segoe UI"/>
              </a:rPr>
              <a:t>“What if temperatures rise 2°C?” — explore and get actionable strategy recommendations.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8BDF8"/>
                </a:solidFill>
                <a:latin typeface="Segoe UI"/>
              </a:rPr>
              <a:t>UNDER THE HOOD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960120"/>
            <a:ext cx="146304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EF6FB"/>
                </a:solidFill>
                <a:latin typeface="Segoe UI"/>
              </a:rPr>
              <a:t>Data Sources &amp;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1481328" cy="502920"/>
          </a:xfrm>
          <a:prstGeom prst="rect">
            <a:avLst/>
          </a:prstGeom>
          <a:solidFill>
            <a:srgbClr val="143248"/>
          </a:solidFill>
          <a:ln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EEF6FB"/>
                </a:solidFill>
                <a:latin typeface="Segoe UI"/>
              </a:rPr>
              <a:t>🌍 Environmental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2286000"/>
            <a:ext cx="1481328" cy="502920"/>
          </a:xfrm>
          <a:prstGeom prst="rect">
            <a:avLst/>
          </a:prstGeom>
          <a:solidFill>
            <a:srgbClr val="143248"/>
          </a:solidFill>
          <a:ln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EEF6FB"/>
                </a:solidFill>
                <a:latin typeface="Segoe UI"/>
              </a:rPr>
              <a:t>📏 Climate Baselines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77056" y="2286000"/>
            <a:ext cx="1481328" cy="502920"/>
          </a:xfrm>
          <a:prstGeom prst="rect">
            <a:avLst/>
          </a:prstGeom>
          <a:solidFill>
            <a:srgbClr val="143248"/>
          </a:solidFill>
          <a:ln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EEF6FB"/>
                </a:solidFill>
                <a:latin typeface="Segoe UI"/>
              </a:rPr>
              <a:t>📊 Anomalies &amp; Trends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9824" y="2286000"/>
            <a:ext cx="1481328" cy="502920"/>
          </a:xfrm>
          <a:prstGeom prst="rect">
            <a:avLst/>
          </a:prstGeom>
          <a:solidFill>
            <a:srgbClr val="143248"/>
          </a:solidFill>
          <a:ln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EEF6FB"/>
                </a:solidFill>
                <a:latin typeface="Segoe UI"/>
              </a:rPr>
              <a:t>🔥 Extreme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1481328" cy="502920"/>
          </a:xfrm>
          <a:prstGeom prst="rect">
            <a:avLst/>
          </a:prstGeom>
          <a:solidFill>
            <a:srgbClr val="143248"/>
          </a:solidFill>
          <a:ln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EEF6FB"/>
                </a:solidFill>
                <a:latin typeface="Segoe UI"/>
              </a:rPr>
              <a:t>🤖 ML Forecasting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4288" y="2926080"/>
            <a:ext cx="1481328" cy="502920"/>
          </a:xfrm>
          <a:prstGeom prst="rect">
            <a:avLst/>
          </a:prstGeom>
          <a:solidFill>
            <a:srgbClr val="143248"/>
          </a:solidFill>
          <a:ln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EEF6FB"/>
                </a:solidFill>
                <a:latin typeface="Segoe UI"/>
              </a:rPr>
              <a:t>🔮 Projections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77056" y="2926080"/>
            <a:ext cx="1481328" cy="502920"/>
          </a:xfrm>
          <a:prstGeom prst="rect">
            <a:avLst/>
          </a:prstGeom>
          <a:solidFill>
            <a:srgbClr val="143248"/>
          </a:solidFill>
          <a:ln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EEF6FB"/>
                </a:solidFill>
                <a:latin typeface="Segoe UI"/>
              </a:rPr>
              <a:t>✨ AI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276088" cy="1737360"/>
          </a:xfrm>
          <a:prstGeom prst="rect">
            <a:avLst/>
          </a:prstGeom>
          <a:solidFill>
            <a:srgbClr val="143248"/>
          </a:solidFill>
          <a:ln w="12700"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2400"/>
              <a:t>🛰️</a:t>
            </a:r>
          </a:p>
          <a:p>
            <a:r>
              <a:rPr sz="1400" b="1">
                <a:solidFill>
                  <a:srgbClr val="EEF6FB"/>
                </a:solidFill>
                <a:latin typeface="Segoe UI"/>
              </a:rPr>
              <a:t>Data</a:t>
            </a:r>
          </a:p>
          <a:p>
            <a:r>
              <a:rPr sz="1100">
                <a:solidFill>
                  <a:srgbClr val="A9C3D2"/>
                </a:solidFill>
                <a:latin typeface="Segoe UI"/>
              </a:rPr>
              <a:t>Open-Meteo Forecast, Air Quality, Historical (ERA5) &amp; CMIP6 Climate APIs; PostgreSQL for storage.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3931920"/>
            <a:ext cx="5276088" cy="1737360"/>
          </a:xfrm>
          <a:prstGeom prst="rect">
            <a:avLst/>
          </a:prstGeom>
          <a:solidFill>
            <a:srgbClr val="143248"/>
          </a:solidFill>
          <a:ln w="12700"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2400"/>
              <a:t>🛠️</a:t>
            </a:r>
          </a:p>
          <a:p>
            <a:r>
              <a:rPr sz="1400" b="1">
                <a:solidFill>
                  <a:srgbClr val="EEF6FB"/>
                </a:solidFill>
                <a:latin typeface="Segoe UI"/>
              </a:rPr>
              <a:t>Built With</a:t>
            </a:r>
          </a:p>
          <a:p>
            <a:r>
              <a:rPr sz="1100">
                <a:solidFill>
                  <a:srgbClr val="A9C3D2"/>
                </a:solidFill>
                <a:latin typeface="Segoe UI"/>
              </a:rPr>
              <a:t>Python · Pandas · NumPy · Plotly · Streamlit · Scikit-learn · XGBoost · SQLAlchemy · Google Gemini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0" i="0">
                <a:solidFill>
                  <a:srgbClr val="EEF6FB"/>
                </a:solidFill>
                <a:latin typeface="Segoe UI"/>
              </a:rPr>
              <a:t>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EEF6FB"/>
                </a:solidFill>
                <a:latin typeface="Segoe UI"/>
              </a:rPr>
              <a:t>Climate</a:t>
            </a:r>
            <a:r>
              <a:rPr sz="3600" b="1" i="0">
                <a:solidFill>
                  <a:srgbClr val="38BDF8"/>
                </a:solidFill>
                <a:latin typeface="Segoe UI"/>
              </a:rPr>
              <a:t>Pulse</a:t>
            </a:r>
            <a:r>
              <a:rPr sz="3600" b="1" i="0">
                <a:solidFill>
                  <a:srgbClr val="EEF6FB"/>
                </a:solidFill>
                <a:latin typeface="Segoe UI"/>
              </a:rPr>
              <a:t> — from data to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971800"/>
            <a:ext cx="9235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A9C3D2"/>
                </a:solidFill>
                <a:latin typeface="Segoe UI"/>
              </a:rPr>
              <a:t>One app that monitors live conditions, learns from the past, detects extremes, predicts the future, and explains it all in plain language.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977639"/>
            <a:ext cx="4114800" cy="1234440"/>
          </a:xfrm>
          <a:prstGeom prst="rect">
            <a:avLst/>
          </a:prstGeom>
          <a:solidFill>
            <a:srgbClr val="143248"/>
          </a:solidFill>
          <a:ln w="12700"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2400"/>
              <a:t>🔗</a:t>
            </a:r>
          </a:p>
          <a:p>
            <a:r>
              <a:rPr sz="1400" b="1">
                <a:solidFill>
                  <a:srgbClr val="EEF6FB"/>
                </a:solidFill>
                <a:latin typeface="Segoe UI"/>
              </a:rPr>
              <a:t>Try it live</a:t>
            </a:r>
          </a:p>
          <a:p>
            <a:r>
              <a:rPr sz="1100">
                <a:solidFill>
                  <a:srgbClr val="A9C3D2"/>
                </a:solidFill>
                <a:latin typeface="Segoe UI"/>
              </a:rPr>
              <a:t>climatepulse-in.streamlit.app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977639"/>
            <a:ext cx="4114800" cy="1234440"/>
          </a:xfrm>
          <a:prstGeom prst="rect">
            <a:avLst/>
          </a:prstGeom>
          <a:solidFill>
            <a:srgbClr val="143248"/>
          </a:solidFill>
          <a:ln w="12700">
            <a:solidFill>
              <a:srgbClr val="2A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/>
            <a:r>
              <a:rPr sz="2400"/>
              <a:t>⭐</a:t>
            </a:r>
          </a:p>
          <a:p>
            <a:r>
              <a:rPr sz="1400" b="1">
                <a:solidFill>
                  <a:srgbClr val="EEF6FB"/>
                </a:solidFill>
                <a:latin typeface="Segoe UI"/>
              </a:rPr>
              <a:t>Source code</a:t>
            </a:r>
          </a:p>
          <a:p>
            <a:r>
              <a:rPr sz="1100">
                <a:solidFill>
                  <a:srgbClr val="A9C3D2"/>
                </a:solidFill>
                <a:latin typeface="Segoe UI"/>
              </a:rPr>
              <a:t>github.com/ri-ya24/ClimatePulse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A9C3D2"/>
                </a:solidFill>
                <a:latin typeface="Segoe UI"/>
              </a:rPr>
              <a:t>Made with 💙 by </a:t>
            </a:r>
            <a:r>
              <a:rPr sz="1500" b="1" i="0">
                <a:solidFill>
                  <a:srgbClr val="EEF6FB"/>
                </a:solidFill>
                <a:latin typeface="Segoe UI"/>
              </a:rPr>
              <a:t>Riya Singh</a:t>
            </a:r>
            <a:r>
              <a:rPr sz="1500" b="0" i="0">
                <a:solidFill>
                  <a:srgbClr val="A9C3D2"/>
                </a:solidFill>
                <a:latin typeface="Segoe UI"/>
              </a:rPr>
              <a:t>  ·  BCA | Data Analytics &amp;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